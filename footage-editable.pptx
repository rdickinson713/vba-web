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53147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36954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SUFFERING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52194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063090"/>
            <a:ext cx="8420100" cy="651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075"/>
              </a:lnSpc>
            </a:pPr>
            <a:r>
              <a:rPr sz="11400" b="1" i="0">
                <a:solidFill>
                  <a:srgbClr val="FFFFFF"/>
                </a:solidFill>
                <a:latin typeface="Inter"/>
              </a:rPr>
              <a:t>Pain </a:t>
            </a:r>
            <a:r>
              <a:rPr sz="11400" b="1" i="0">
                <a:solidFill>
                  <a:srgbClr val="FFFFFF"/>
                </a:solidFill>
                <a:latin typeface="Inter"/>
              </a:rPr>
              <a:t>is</a:t>
            </a:r>
            <a:br/>
            <a:r>
              <a:rPr sz="11400" b="1" i="0">
                <a:solidFill>
                  <a:srgbClr val="FFFFFF"/>
                </a:solidFill>
                <a:latin typeface="Inter"/>
              </a:rPr>
              <a:t>inevitable.</a:t>
            </a:r>
            <a:br/>
            <a:r>
              <a:rPr sz="11400" b="1" i="0">
                <a:solidFill>
                  <a:srgbClr val="FFFFFF"/>
                </a:solidFill>
                <a:latin typeface="Inter"/>
              </a:rPr>
              <a:t>Suffering </a:t>
            </a:r>
            <a:r>
              <a:rPr sz="11400" b="1" i="0">
                <a:solidFill>
                  <a:srgbClr val="FFFFFF"/>
                </a:solidFill>
                <a:latin typeface="Inter"/>
              </a:rPr>
              <a:t>is</a:t>
            </a:r>
            <a:br/>
            <a:r>
              <a:rPr sz="11400" b="1" i="0">
                <a:solidFill>
                  <a:srgbClr val="8FA4FF"/>
                </a:solidFill>
                <a:latin typeface="Inter"/>
              </a:rPr>
              <a:t>optional.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70300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Haruki Murakami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25545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What I Talk About When I Talk About Running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606279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444354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ENDURANCE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596754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141709"/>
            <a:ext cx="8420100" cy="6362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75"/>
              </a:lnSpc>
            </a:pPr>
            <a:r>
              <a:rPr sz="11100" b="1" i="0">
                <a:solidFill>
                  <a:srgbClr val="FFFFFF"/>
                </a:solidFill>
                <a:latin typeface="Inter"/>
              </a:rPr>
              <a:t>Enthusiasm</a:t>
            </a:r>
            <a:br/>
            <a:r>
              <a:rPr sz="11100" b="1" i="0">
                <a:solidFill>
                  <a:srgbClr val="FFFFFF"/>
                </a:solidFill>
                <a:latin typeface="Inter"/>
              </a:rPr>
              <a:t>is </a:t>
            </a:r>
            <a:r>
              <a:rPr sz="11100" b="1" i="0">
                <a:solidFill>
                  <a:srgbClr val="FFFFFF"/>
                </a:solidFill>
                <a:latin typeface="Inter"/>
              </a:rPr>
              <a:t>common.</a:t>
            </a:r>
            <a:br/>
            <a:r>
              <a:rPr sz="11100" b="1" i="0">
                <a:solidFill>
                  <a:srgbClr val="FFFFFF"/>
                </a:solidFill>
                <a:latin typeface="Inter"/>
              </a:rPr>
              <a:t>Endurance</a:t>
            </a:r>
            <a:br/>
            <a:r>
              <a:rPr sz="11100" b="1" i="0">
                <a:solidFill>
                  <a:srgbClr val="FFFFFF"/>
                </a:solidFill>
                <a:latin typeface="Inter"/>
              </a:rPr>
              <a:t>is </a:t>
            </a:r>
            <a:r>
              <a:rPr sz="11100" b="1" i="0">
                <a:solidFill>
                  <a:srgbClr val="8FA4FF"/>
                </a:solidFill>
                <a:latin typeface="Inter"/>
              </a:rPr>
              <a:t>rare.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62819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Angela Duckworth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18064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Grit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80759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64566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OBSTACLES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79806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352545"/>
            <a:ext cx="8420100" cy="5943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950"/>
              </a:lnSpc>
            </a:pPr>
            <a:r>
              <a:rPr sz="10350" b="1" i="0">
                <a:solidFill>
                  <a:srgbClr val="FFFFFF"/>
                </a:solidFill>
                <a:latin typeface="Inter"/>
              </a:rPr>
              <a:t>What </a:t>
            </a:r>
            <a:r>
              <a:rPr sz="10350" b="1" i="0">
                <a:solidFill>
                  <a:srgbClr val="FFFFFF"/>
                </a:solidFill>
                <a:latin typeface="Inter"/>
              </a:rPr>
              <a:t>stands</a:t>
            </a:r>
            <a:br/>
            <a:r>
              <a:rPr sz="10350" b="1" i="0">
                <a:solidFill>
                  <a:srgbClr val="FFFFFF"/>
                </a:solidFill>
                <a:latin typeface="Inter"/>
              </a:rPr>
              <a:t>in </a:t>
            </a:r>
            <a:r>
              <a:rPr sz="10350" b="1" i="0">
                <a:solidFill>
                  <a:srgbClr val="FFFFFF"/>
                </a:solidFill>
                <a:latin typeface="Inter"/>
              </a:rPr>
              <a:t>the </a:t>
            </a:r>
            <a:r>
              <a:rPr sz="10350" b="1" i="0">
                <a:solidFill>
                  <a:srgbClr val="FFFFFF"/>
                </a:solidFill>
                <a:latin typeface="Inter"/>
              </a:rPr>
              <a:t>way</a:t>
            </a:r>
            <a:br/>
            <a:r>
              <a:rPr sz="10350" b="1" i="0">
                <a:solidFill>
                  <a:srgbClr val="8FA4FF"/>
                </a:solidFill>
                <a:latin typeface="Inter"/>
              </a:rPr>
              <a:t>becomes</a:t>
            </a:r>
            <a:br/>
            <a:r>
              <a:rPr sz="10350" b="1" i="0">
                <a:solidFill>
                  <a:srgbClr val="8FA4FF"/>
                </a:solidFill>
                <a:latin typeface="Inter"/>
              </a:rPr>
              <a:t>the </a:t>
            </a:r>
            <a:r>
              <a:rPr sz="10350" b="1" i="0">
                <a:solidFill>
                  <a:srgbClr val="8FA4FF"/>
                </a:solidFill>
                <a:latin typeface="Inter"/>
              </a:rPr>
              <a:t>way.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42688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Marcus Aurelius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97933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Meditations 5.20 · trans. Gregory Hays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389587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227662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SELF-TALK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380062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984072"/>
            <a:ext cx="8420100" cy="4714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825"/>
              </a:lnSpc>
            </a:pPr>
            <a:r>
              <a:rPr sz="6450" b="1" i="0">
                <a:solidFill>
                  <a:srgbClr val="FFFFFF"/>
                </a:solidFill>
                <a:latin typeface="Inter"/>
              </a:rPr>
              <a:t>The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most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important</a:t>
            </a:r>
            <a:br/>
            <a:r>
              <a:rPr sz="6450" b="1" i="0">
                <a:solidFill>
                  <a:srgbClr val="FFFFFF"/>
                </a:solidFill>
                <a:latin typeface="Inter"/>
              </a:rPr>
              <a:t>conversations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you’ll</a:t>
            </a:r>
            <a:br/>
            <a:r>
              <a:rPr sz="6450" b="1" i="0">
                <a:solidFill>
                  <a:srgbClr val="FFFFFF"/>
                </a:solidFill>
                <a:latin typeface="Inter"/>
              </a:rPr>
              <a:t>ever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have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are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the</a:t>
            </a:r>
            <a:br/>
            <a:r>
              <a:rPr sz="6450" b="1" i="0">
                <a:solidFill>
                  <a:srgbClr val="FFFFFF"/>
                </a:solidFill>
                <a:latin typeface="Inter"/>
              </a:rPr>
              <a:t>ones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you’ll </a:t>
            </a:r>
            <a:r>
              <a:rPr sz="6450" b="1" i="0">
                <a:solidFill>
                  <a:srgbClr val="FFFFFF"/>
                </a:solidFill>
                <a:latin typeface="Inter"/>
              </a:rPr>
              <a:t>have</a:t>
            </a:r>
            <a:br/>
            <a:r>
              <a:rPr sz="6450" b="1" i="0">
                <a:solidFill>
                  <a:srgbClr val="FFFFFF"/>
                </a:solidFill>
                <a:latin typeface="Inter"/>
              </a:rPr>
              <a:t>with </a:t>
            </a:r>
            <a:r>
              <a:rPr sz="6450" b="1" i="0">
                <a:solidFill>
                  <a:srgbClr val="8FA4FF"/>
                </a:solidFill>
                <a:latin typeface="Inter"/>
              </a:rPr>
              <a:t>yourself.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0844889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David Goggins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397339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Can’t Hurt Me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03779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87586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RECOVERY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02826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552265"/>
            <a:ext cx="8420100" cy="552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0"/>
              </a:lnSpc>
            </a:pPr>
            <a:r>
              <a:rPr sz="12750" b="1" i="0">
                <a:solidFill>
                  <a:srgbClr val="FFFFFF"/>
                </a:solidFill>
                <a:latin typeface="Inter"/>
              </a:rPr>
              <a:t>Stress</a:t>
            </a:r>
            <a:br/>
            <a:r>
              <a:rPr sz="12750" b="1" i="0">
                <a:solidFill>
                  <a:srgbClr val="FFFFFF"/>
                </a:solidFill>
                <a:latin typeface="Inter"/>
              </a:rPr>
              <a:t>+ </a:t>
            </a:r>
            <a:r>
              <a:rPr sz="12750" b="1" i="0">
                <a:solidFill>
                  <a:srgbClr val="FFFFFF"/>
                </a:solidFill>
                <a:latin typeface="Inter"/>
              </a:rPr>
              <a:t>rest</a:t>
            </a:r>
            <a:br/>
            <a:r>
              <a:rPr sz="12750" b="1" i="0">
                <a:solidFill>
                  <a:srgbClr val="FFFFFF"/>
                </a:solidFill>
                <a:latin typeface="Inter"/>
              </a:rPr>
              <a:t>= </a:t>
            </a:r>
            <a:r>
              <a:rPr sz="12750" b="1" i="0">
                <a:solidFill>
                  <a:srgbClr val="8FA4FF"/>
                </a:solidFill>
                <a:latin typeface="Inter"/>
              </a:rPr>
              <a:t>growth.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19668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Brad Stulberg &amp; Steve Magness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74913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Peak Performance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08371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92178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RACE NERVES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07418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642000"/>
            <a:ext cx="8420100" cy="5372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25"/>
              </a:lnSpc>
            </a:pPr>
            <a:r>
              <a:rPr sz="9300" b="1" i="0">
                <a:solidFill>
                  <a:srgbClr val="FFFFFF"/>
                </a:solidFill>
                <a:latin typeface="Inter"/>
              </a:rPr>
              <a:t>We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suffer</a:t>
            </a:r>
            <a:br/>
            <a:r>
              <a:rPr sz="9300" b="1" i="0">
                <a:solidFill>
                  <a:srgbClr val="FFFFFF"/>
                </a:solidFill>
                <a:latin typeface="Inter"/>
              </a:rPr>
              <a:t>more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often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in</a:t>
            </a:r>
            <a:br/>
            <a:r>
              <a:rPr sz="9300" b="1" i="0">
                <a:solidFill>
                  <a:srgbClr val="8FA4FF"/>
                </a:solidFill>
                <a:latin typeface="Inter"/>
              </a:rPr>
              <a:t>imagination</a:t>
            </a:r>
            <a:br/>
            <a:r>
              <a:rPr sz="9300" b="1" i="0">
                <a:solidFill>
                  <a:srgbClr val="FFFFFF"/>
                </a:solidFill>
                <a:latin typeface="Inter"/>
              </a:rPr>
              <a:t>than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in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reality.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15076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Seneca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70321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Letters from a Stoic · Letter 13 · trans. Richard Gummere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2717778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2555853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BEGINNING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2708253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4247493"/>
            <a:ext cx="8420100" cy="8143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225"/>
              </a:lnSpc>
            </a:pPr>
            <a:r>
              <a:rPr sz="11550" b="1" i="0">
                <a:solidFill>
                  <a:srgbClr val="FFFFFF"/>
                </a:solidFill>
                <a:latin typeface="Inter"/>
              </a:rPr>
              <a:t>Each </a:t>
            </a:r>
            <a:r>
              <a:rPr sz="11550" b="1" i="0">
                <a:solidFill>
                  <a:srgbClr val="FFFFFF"/>
                </a:solidFill>
                <a:latin typeface="Inter"/>
              </a:rPr>
              <a:t>time</a:t>
            </a:r>
            <a:br/>
            <a:r>
              <a:rPr sz="11550" b="1" i="0">
                <a:solidFill>
                  <a:srgbClr val="FFFFFF"/>
                </a:solidFill>
                <a:latin typeface="Inter"/>
              </a:rPr>
              <a:t>you </a:t>
            </a:r>
            <a:r>
              <a:rPr sz="11550" b="1" i="0">
                <a:solidFill>
                  <a:srgbClr val="FFFFFF"/>
                </a:solidFill>
                <a:latin typeface="Inter"/>
              </a:rPr>
              <a:t>start</a:t>
            </a:r>
            <a:br/>
            <a:r>
              <a:rPr sz="11550" b="1" i="0">
                <a:solidFill>
                  <a:srgbClr val="FFFFFF"/>
                </a:solidFill>
                <a:latin typeface="Inter"/>
              </a:rPr>
              <a:t>a </a:t>
            </a:r>
            <a:r>
              <a:rPr sz="11550" b="1" i="0">
                <a:solidFill>
                  <a:srgbClr val="FFFFFF"/>
                </a:solidFill>
                <a:latin typeface="Inter"/>
              </a:rPr>
              <a:t>workout,</a:t>
            </a:r>
            <a:br/>
            <a:r>
              <a:rPr sz="11550" b="1" i="0">
                <a:solidFill>
                  <a:srgbClr val="FFFFFF"/>
                </a:solidFill>
                <a:latin typeface="Inter"/>
              </a:rPr>
              <a:t>you </a:t>
            </a:r>
            <a:r>
              <a:rPr sz="11550" b="1" i="0">
                <a:solidFill>
                  <a:srgbClr val="FFFFFF"/>
                </a:solidFill>
                <a:latin typeface="Inter"/>
              </a:rPr>
              <a:t>are </a:t>
            </a:r>
            <a:r>
              <a:rPr sz="11550" b="1" i="0">
                <a:solidFill>
                  <a:srgbClr val="FFFFFF"/>
                </a:solidFill>
                <a:latin typeface="Inter"/>
              </a:rPr>
              <a:t>an</a:t>
            </a:r>
            <a:br/>
            <a:r>
              <a:rPr sz="11550" b="1" i="0">
                <a:solidFill>
                  <a:srgbClr val="8FA4FF"/>
                </a:solidFill>
                <a:latin typeface="Inter"/>
              </a:rPr>
              <a:t>athlete.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2516698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James Clear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3069148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Atomic Habits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15852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99659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MOTIVATION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14899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720620"/>
            <a:ext cx="8420100" cy="521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525"/>
              </a:lnSpc>
            </a:pPr>
            <a:r>
              <a:rPr sz="9000" b="1" i="0">
                <a:solidFill>
                  <a:srgbClr val="FFFFFF"/>
                </a:solidFill>
                <a:latin typeface="Inter"/>
              </a:rPr>
              <a:t>Don’t </a:t>
            </a:r>
            <a:r>
              <a:rPr sz="9000" b="1" i="0">
                <a:solidFill>
                  <a:srgbClr val="FFFFFF"/>
                </a:solidFill>
                <a:latin typeface="Inter"/>
              </a:rPr>
              <a:t>count </a:t>
            </a:r>
            <a:r>
              <a:rPr sz="9000" b="1" i="0">
                <a:solidFill>
                  <a:srgbClr val="FFFFFF"/>
                </a:solidFill>
                <a:latin typeface="Inter"/>
              </a:rPr>
              <a:t>on</a:t>
            </a:r>
            <a:br/>
            <a:r>
              <a:rPr sz="9000" b="1" i="0">
                <a:solidFill>
                  <a:srgbClr val="FFFFFF"/>
                </a:solidFill>
                <a:latin typeface="Inter"/>
              </a:rPr>
              <a:t>motivation.</a:t>
            </a:r>
            <a:br/>
            <a:r>
              <a:rPr sz="9000" b="1" i="0">
                <a:solidFill>
                  <a:srgbClr val="FFFFFF"/>
                </a:solidFill>
                <a:latin typeface="Inter"/>
              </a:rPr>
              <a:t>Count </a:t>
            </a:r>
            <a:r>
              <a:rPr sz="9000" b="1" i="0">
                <a:solidFill>
                  <a:srgbClr val="FFFFFF"/>
                </a:solidFill>
                <a:latin typeface="Inter"/>
              </a:rPr>
              <a:t>on</a:t>
            </a:r>
            <a:br/>
            <a:r>
              <a:rPr sz="9000" b="1" i="0">
                <a:solidFill>
                  <a:srgbClr val="8FA4FF"/>
                </a:solidFill>
                <a:latin typeface="Inter"/>
              </a:rPr>
              <a:t>discipline.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07595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Jocko Willink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62840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Discipline Equals Freedom: Field Manual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85431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69238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DEFINING ENDURANCE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84478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427840"/>
            <a:ext cx="8420100" cy="5810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50"/>
              </a:lnSpc>
            </a:pPr>
            <a:r>
              <a:rPr sz="8100" b="1" i="0">
                <a:solidFill>
                  <a:srgbClr val="FFFFFF"/>
                </a:solidFill>
                <a:latin typeface="Inter"/>
              </a:rPr>
              <a:t>The </a:t>
            </a:r>
            <a:r>
              <a:rPr sz="8100" b="1" i="0">
                <a:solidFill>
                  <a:srgbClr val="FFFFFF"/>
                </a:solidFill>
                <a:latin typeface="Inter"/>
              </a:rPr>
              <a:t>struggle</a:t>
            </a:r>
            <a:br/>
            <a:r>
              <a:rPr sz="8100" b="1" i="0">
                <a:solidFill>
                  <a:srgbClr val="FFFFFF"/>
                </a:solidFill>
                <a:latin typeface="Inter"/>
              </a:rPr>
              <a:t>to </a:t>
            </a:r>
            <a:r>
              <a:rPr sz="8100" b="1" i="0">
                <a:solidFill>
                  <a:srgbClr val="FFFFFF"/>
                </a:solidFill>
                <a:latin typeface="Inter"/>
              </a:rPr>
              <a:t>continue</a:t>
            </a:r>
            <a:br/>
            <a:r>
              <a:rPr sz="8100" b="1" i="0">
                <a:solidFill>
                  <a:srgbClr val="FFFFFF"/>
                </a:solidFill>
                <a:latin typeface="Inter"/>
              </a:rPr>
              <a:t>against </a:t>
            </a:r>
            <a:r>
              <a:rPr sz="8100" b="1" i="0">
                <a:solidFill>
                  <a:srgbClr val="FFFFFF"/>
                </a:solidFill>
                <a:latin typeface="Inter"/>
              </a:rPr>
              <a:t>a</a:t>
            </a:r>
            <a:br/>
            <a:r>
              <a:rPr sz="8100" b="1" i="0">
                <a:solidFill>
                  <a:srgbClr val="FFFFFF"/>
                </a:solidFill>
                <a:latin typeface="Inter"/>
              </a:rPr>
              <a:t>mounting </a:t>
            </a:r>
            <a:r>
              <a:rPr sz="8100" b="1" i="0">
                <a:solidFill>
                  <a:srgbClr val="FFFFFF"/>
                </a:solidFill>
                <a:latin typeface="Inter"/>
              </a:rPr>
              <a:t>desire</a:t>
            </a:r>
            <a:br/>
            <a:r>
              <a:rPr sz="8100" b="1" i="0">
                <a:solidFill>
                  <a:srgbClr val="FFFFFF"/>
                </a:solidFill>
                <a:latin typeface="Inter"/>
              </a:rPr>
              <a:t>to </a:t>
            </a:r>
            <a:r>
              <a:rPr sz="8100" b="1" i="0">
                <a:solidFill>
                  <a:srgbClr val="8FA4FF"/>
                </a:solidFill>
                <a:latin typeface="Inter"/>
              </a:rPr>
              <a:t>stop.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380165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Alex Hutchinson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932615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Endure · after Samuele Marcora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214593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052668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GROWTH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205068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740498"/>
            <a:ext cx="8420100" cy="51530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525"/>
              </a:lnSpc>
            </a:pPr>
            <a:r>
              <a:rPr sz="11850" b="1" i="0">
                <a:solidFill>
                  <a:srgbClr val="8FA4FF"/>
                </a:solidFill>
                <a:latin typeface="Inter"/>
              </a:rPr>
              <a:t>Becoming</a:t>
            </a:r>
            <a:br/>
            <a:r>
              <a:rPr sz="11850" b="1" i="0">
                <a:solidFill>
                  <a:srgbClr val="FFFFFF"/>
                </a:solidFill>
                <a:latin typeface="Inter"/>
              </a:rPr>
              <a:t>is </a:t>
            </a:r>
            <a:r>
              <a:rPr sz="11850" b="1" i="0">
                <a:solidFill>
                  <a:srgbClr val="FFFFFF"/>
                </a:solidFill>
                <a:latin typeface="Inter"/>
              </a:rPr>
              <a:t>better</a:t>
            </a:r>
            <a:br/>
            <a:r>
              <a:rPr sz="11850" b="1" i="0">
                <a:solidFill>
                  <a:srgbClr val="FFFFFF"/>
                </a:solidFill>
                <a:latin typeface="Inter"/>
              </a:rPr>
              <a:t>than </a:t>
            </a:r>
            <a:r>
              <a:rPr sz="11850" b="1" i="0">
                <a:solidFill>
                  <a:srgbClr val="FFFFFF"/>
                </a:solidFill>
                <a:latin typeface="Inter"/>
              </a:rPr>
              <a:t>being.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019882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Carol Dweck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572332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Mindset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506753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344828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DNFS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497228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066948"/>
            <a:ext cx="8420100" cy="6524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675"/>
              </a:lnSpc>
            </a:pPr>
            <a:r>
              <a:rPr sz="9150" b="1" i="0">
                <a:solidFill>
                  <a:srgbClr val="FFFFFF"/>
                </a:solidFill>
                <a:latin typeface="Inter"/>
              </a:rPr>
              <a:t>Failure </a:t>
            </a:r>
            <a:r>
              <a:rPr sz="9150" b="1" i="0">
                <a:solidFill>
                  <a:srgbClr val="FFFFFF"/>
                </a:solidFill>
                <a:latin typeface="Inter"/>
              </a:rPr>
              <a:t>shows</a:t>
            </a:r>
            <a:br/>
            <a:r>
              <a:rPr sz="9150" b="1" i="0">
                <a:solidFill>
                  <a:srgbClr val="FFFFFF"/>
                </a:solidFill>
                <a:latin typeface="Inter"/>
              </a:rPr>
              <a:t>us </a:t>
            </a:r>
            <a:r>
              <a:rPr sz="9150" b="1" i="0">
                <a:solidFill>
                  <a:srgbClr val="FFFFFF"/>
                </a:solidFill>
                <a:latin typeface="Inter"/>
              </a:rPr>
              <a:t>the </a:t>
            </a:r>
            <a:r>
              <a:rPr sz="9150" b="1" i="0">
                <a:solidFill>
                  <a:srgbClr val="FFFFFF"/>
                </a:solidFill>
                <a:latin typeface="Inter"/>
              </a:rPr>
              <a:t>way—</a:t>
            </a:r>
            <a:br/>
            <a:r>
              <a:rPr sz="9150" b="1" i="0">
                <a:solidFill>
                  <a:srgbClr val="FFFFFF"/>
                </a:solidFill>
                <a:latin typeface="Inter"/>
              </a:rPr>
              <a:t>by </a:t>
            </a:r>
            <a:r>
              <a:rPr sz="9150" b="1" i="0">
                <a:solidFill>
                  <a:srgbClr val="FFFFFF"/>
                </a:solidFill>
                <a:latin typeface="Inter"/>
              </a:rPr>
              <a:t>showing </a:t>
            </a:r>
            <a:r>
              <a:rPr sz="9150" b="1" i="0">
                <a:solidFill>
                  <a:srgbClr val="FFFFFF"/>
                </a:solidFill>
                <a:latin typeface="Inter"/>
              </a:rPr>
              <a:t>us</a:t>
            </a:r>
            <a:br/>
            <a:r>
              <a:rPr sz="9150" b="1" i="0">
                <a:solidFill>
                  <a:srgbClr val="FFFFFF"/>
                </a:solidFill>
                <a:latin typeface="Inter"/>
              </a:rPr>
              <a:t>what </a:t>
            </a:r>
            <a:r>
              <a:rPr sz="9150" b="1" i="0">
                <a:solidFill>
                  <a:srgbClr val="8FA4FF"/>
                </a:solidFill>
                <a:latin typeface="Inter"/>
              </a:rPr>
              <a:t>isn’t</a:t>
            </a:r>
            <a:br/>
            <a:r>
              <a:rPr sz="9150" b="1" i="0">
                <a:solidFill>
                  <a:srgbClr val="8FA4FF"/>
                </a:solidFill>
                <a:latin typeface="Inter"/>
              </a:rPr>
              <a:t>the </a:t>
            </a:r>
            <a:r>
              <a:rPr sz="9150" b="1" i="0">
                <a:solidFill>
                  <a:srgbClr val="8FA4FF"/>
                </a:solidFill>
                <a:latin typeface="Inter"/>
              </a:rPr>
              <a:t>way.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727723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Ryan Holiday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280173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The Obstacle Is the Way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509449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347524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PURPOSE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499924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6088694"/>
            <a:ext cx="8420100" cy="449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100"/>
              </a:lnSpc>
            </a:pPr>
            <a:r>
              <a:rPr sz="7650" b="1" i="0">
                <a:solidFill>
                  <a:srgbClr val="FFFFFF"/>
                </a:solidFill>
                <a:latin typeface="Inter"/>
              </a:rPr>
              <a:t>Those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who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have</a:t>
            </a:r>
            <a:br/>
            <a:r>
              <a:rPr sz="7650" b="1" i="0">
                <a:solidFill>
                  <a:srgbClr val="FFFFFF"/>
                </a:solidFill>
                <a:latin typeface="Inter"/>
              </a:rPr>
              <a:t>a </a:t>
            </a:r>
            <a:r>
              <a:rPr sz="7650" b="1" i="0">
                <a:solidFill>
                  <a:srgbClr val="8FA4FF"/>
                </a:solidFill>
                <a:latin typeface="Inter"/>
              </a:rPr>
              <a:t>‘why’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to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live,</a:t>
            </a:r>
            <a:br/>
            <a:r>
              <a:rPr sz="7650" b="1" i="0">
                <a:solidFill>
                  <a:srgbClr val="FFFFFF"/>
                </a:solidFill>
                <a:latin typeface="Inter"/>
              </a:rPr>
              <a:t>can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bear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with</a:t>
            </a:r>
            <a:br/>
            <a:r>
              <a:rPr sz="7650" b="1" i="0">
                <a:solidFill>
                  <a:srgbClr val="FFFFFF"/>
                </a:solidFill>
                <a:latin typeface="Inter"/>
              </a:rPr>
              <a:t>almost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any </a:t>
            </a:r>
            <a:r>
              <a:rPr sz="7650" b="1" i="0">
                <a:solidFill>
                  <a:srgbClr val="8FA4FF"/>
                </a:solidFill>
                <a:latin typeface="Inter"/>
              </a:rPr>
              <a:t>‘how’.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072502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Friedrich Nietzsche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27747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Quoted in Viktor Frankl’s Man’s Search for Meaning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901240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739315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DISCOMFORT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891715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476675"/>
            <a:ext cx="8420100" cy="571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</a:pPr>
            <a:r>
              <a:rPr sz="7950" b="1" i="0">
                <a:solidFill>
                  <a:srgbClr val="FFFFFF"/>
                </a:solidFill>
                <a:latin typeface="Inter"/>
              </a:rPr>
              <a:t>Get </a:t>
            </a:r>
            <a:r>
              <a:rPr sz="7950" b="1" i="0">
                <a:solidFill>
                  <a:srgbClr val="FFFFFF"/>
                </a:solidFill>
                <a:latin typeface="Inter"/>
              </a:rPr>
              <a:t>comfortable</a:t>
            </a:r>
            <a:br/>
            <a:r>
              <a:rPr sz="7950" b="1" i="0">
                <a:solidFill>
                  <a:srgbClr val="FFFFFF"/>
                </a:solidFill>
                <a:latin typeface="Inter"/>
              </a:rPr>
              <a:t>being</a:t>
            </a:r>
            <a:br/>
            <a:r>
              <a:rPr sz="7950" b="1" i="0">
                <a:solidFill>
                  <a:srgbClr val="8FA4FF"/>
                </a:solidFill>
                <a:latin typeface="Inter"/>
              </a:rPr>
              <a:t>uncomfortable,</a:t>
            </a:r>
            <a:br/>
            <a:r>
              <a:rPr sz="7950" b="1" i="0">
                <a:solidFill>
                  <a:srgbClr val="FFFFFF"/>
                </a:solidFill>
                <a:latin typeface="Inter"/>
              </a:rPr>
              <a:t>or </a:t>
            </a:r>
            <a:r>
              <a:rPr sz="7950" b="1" i="0">
                <a:solidFill>
                  <a:srgbClr val="FFFFFF"/>
                </a:solidFill>
                <a:latin typeface="Inter"/>
              </a:rPr>
              <a:t>find </a:t>
            </a:r>
            <a:r>
              <a:rPr sz="7950" b="1" i="0">
                <a:solidFill>
                  <a:srgbClr val="FFFFFF"/>
                </a:solidFill>
                <a:latin typeface="Inter"/>
              </a:rPr>
              <a:t>another</a:t>
            </a:r>
            <a:br/>
            <a:r>
              <a:rPr sz="7950" b="1" i="0">
                <a:solidFill>
                  <a:srgbClr val="FFFFFF"/>
                </a:solidFill>
                <a:latin typeface="Inter"/>
              </a:rPr>
              <a:t>place </a:t>
            </a:r>
            <a:r>
              <a:rPr sz="7950" b="1" i="0">
                <a:solidFill>
                  <a:srgbClr val="FFFFFF"/>
                </a:solidFill>
                <a:latin typeface="Inter"/>
              </a:rPr>
              <a:t>to </a:t>
            </a:r>
            <a:r>
              <a:rPr sz="7950" b="1" i="0">
                <a:solidFill>
                  <a:srgbClr val="FFFFFF"/>
                </a:solidFill>
                <a:latin typeface="Inter"/>
              </a:rPr>
              <a:t>fail.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33323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Tim Grover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88568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Relentless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770186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60826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CLUB CULTURE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760660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313235"/>
            <a:ext cx="8420100" cy="6019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100"/>
              </a:lnSpc>
            </a:pPr>
            <a:r>
              <a:rPr sz="10500" b="1" i="0">
                <a:solidFill>
                  <a:srgbClr val="FFFFFF"/>
                </a:solidFill>
                <a:latin typeface="Inter"/>
              </a:rPr>
              <a:t>It’s </a:t>
            </a:r>
            <a:r>
              <a:rPr sz="10500" b="1" i="0">
                <a:solidFill>
                  <a:srgbClr val="FFFFFF"/>
                </a:solidFill>
                <a:latin typeface="Inter"/>
              </a:rPr>
              <a:t>not </a:t>
            </a:r>
            <a:r>
              <a:rPr sz="10500" b="1" i="0">
                <a:solidFill>
                  <a:srgbClr val="FFFFFF"/>
                </a:solidFill>
                <a:latin typeface="Inter"/>
              </a:rPr>
              <a:t>what</a:t>
            </a:r>
            <a:br/>
            <a:r>
              <a:rPr sz="10500" b="1" i="0">
                <a:solidFill>
                  <a:srgbClr val="FFFFFF"/>
                </a:solidFill>
                <a:latin typeface="Inter"/>
              </a:rPr>
              <a:t>you </a:t>
            </a:r>
            <a:r>
              <a:rPr sz="10500" b="1" i="0">
                <a:solidFill>
                  <a:srgbClr val="FFFFFF"/>
                </a:solidFill>
                <a:latin typeface="Inter"/>
              </a:rPr>
              <a:t>preach,</a:t>
            </a:r>
            <a:br/>
            <a:r>
              <a:rPr sz="10500" b="1" i="0">
                <a:solidFill>
                  <a:srgbClr val="FFFFFF"/>
                </a:solidFill>
                <a:latin typeface="Inter"/>
              </a:rPr>
              <a:t>it’s </a:t>
            </a:r>
            <a:r>
              <a:rPr sz="10500" b="1" i="0">
                <a:solidFill>
                  <a:srgbClr val="FFFFFF"/>
                </a:solidFill>
                <a:latin typeface="Inter"/>
              </a:rPr>
              <a:t>what </a:t>
            </a:r>
            <a:r>
              <a:rPr sz="10500" b="1" i="0">
                <a:solidFill>
                  <a:srgbClr val="FFFFFF"/>
                </a:solidFill>
                <a:latin typeface="Inter"/>
              </a:rPr>
              <a:t>you</a:t>
            </a:r>
            <a:br/>
            <a:r>
              <a:rPr sz="10500" b="1" i="0">
                <a:solidFill>
                  <a:srgbClr val="8FA4FF"/>
                </a:solidFill>
                <a:latin typeface="Inter"/>
              </a:rPr>
              <a:t>tolerate.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464290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Jocko Willink &amp; Leif Babin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016740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Extreme Ownership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509449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4347524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EGO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499924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6088694"/>
            <a:ext cx="8420100" cy="449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100"/>
              </a:lnSpc>
            </a:pPr>
            <a:r>
              <a:rPr sz="7650" b="1" i="0">
                <a:solidFill>
                  <a:srgbClr val="8FA4FF"/>
                </a:solidFill>
                <a:latin typeface="Inter"/>
              </a:rPr>
              <a:t>Ego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is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the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enemy</a:t>
            </a:r>
            <a:br/>
            <a:r>
              <a:rPr sz="7650" b="1" i="0">
                <a:solidFill>
                  <a:srgbClr val="FFFFFF"/>
                </a:solidFill>
                <a:latin typeface="Inter"/>
              </a:rPr>
              <a:t>of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what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you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want</a:t>
            </a:r>
            <a:br/>
            <a:r>
              <a:rPr sz="7650" b="1" i="0">
                <a:solidFill>
                  <a:srgbClr val="FFFFFF"/>
                </a:solidFill>
                <a:latin typeface="Inter"/>
              </a:rPr>
              <a:t>and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of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what</a:t>
            </a:r>
            <a:br/>
            <a:r>
              <a:rPr sz="7650" b="1" i="0">
                <a:solidFill>
                  <a:srgbClr val="FFFFFF"/>
                </a:solidFill>
                <a:latin typeface="Inter"/>
              </a:rPr>
              <a:t>you </a:t>
            </a:r>
            <a:r>
              <a:rPr sz="7650" b="1" i="0">
                <a:solidFill>
                  <a:srgbClr val="FFFFFF"/>
                </a:solidFill>
                <a:latin typeface="Inter"/>
              </a:rPr>
              <a:t>have.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0725026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Ryan Holiday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277476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Ego Is the Enemy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4032018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870093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EFFORT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4022493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588403"/>
            <a:ext cx="8420100" cy="548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050"/>
              </a:lnSpc>
            </a:pPr>
            <a:r>
              <a:rPr sz="9450" b="1" i="0">
                <a:solidFill>
                  <a:srgbClr val="FFFFFF"/>
                </a:solidFill>
                <a:latin typeface="Inter"/>
              </a:rPr>
              <a:t>As </a:t>
            </a:r>
            <a:r>
              <a:rPr sz="9450" b="1" i="0">
                <a:solidFill>
                  <a:srgbClr val="FFFFFF"/>
                </a:solidFill>
                <a:latin typeface="Inter"/>
              </a:rPr>
              <a:t>much </a:t>
            </a:r>
            <a:r>
              <a:rPr sz="9450" b="1" i="0">
                <a:solidFill>
                  <a:srgbClr val="FFFFFF"/>
                </a:solidFill>
                <a:latin typeface="Inter"/>
              </a:rPr>
              <a:t>as</a:t>
            </a:r>
            <a:br/>
            <a:r>
              <a:rPr sz="9450" b="1" i="0">
                <a:solidFill>
                  <a:srgbClr val="FFFFFF"/>
                </a:solidFill>
                <a:latin typeface="Inter"/>
              </a:rPr>
              <a:t>talent </a:t>
            </a:r>
            <a:r>
              <a:rPr sz="9450" b="1" i="0">
                <a:solidFill>
                  <a:srgbClr val="FFFFFF"/>
                </a:solidFill>
                <a:latin typeface="Inter"/>
              </a:rPr>
              <a:t>counts,</a:t>
            </a:r>
            <a:br/>
            <a:r>
              <a:rPr sz="9450" b="1" i="0">
                <a:solidFill>
                  <a:srgbClr val="FFFFFF"/>
                </a:solidFill>
                <a:latin typeface="Inter"/>
              </a:rPr>
              <a:t>effort </a:t>
            </a:r>
            <a:r>
              <a:rPr sz="9450" b="1" i="0">
                <a:solidFill>
                  <a:srgbClr val="FFFFFF"/>
                </a:solidFill>
                <a:latin typeface="Inter"/>
              </a:rPr>
              <a:t>counts</a:t>
            </a:r>
            <a:br/>
            <a:r>
              <a:rPr sz="9450" b="1" i="0">
                <a:solidFill>
                  <a:srgbClr val="8FA4FF"/>
                </a:solidFill>
                <a:latin typeface="Inter"/>
              </a:rPr>
              <a:t>twice.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202457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Angela Duckworth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1754907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Grit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2835935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267401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CONSISTENCY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2826410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4394225"/>
            <a:ext cx="8420100" cy="786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825"/>
              </a:lnSpc>
            </a:pPr>
            <a:r>
              <a:rPr sz="9300" b="1" i="0">
                <a:solidFill>
                  <a:srgbClr val="FFFFFF"/>
                </a:solidFill>
                <a:latin typeface="Inter"/>
              </a:rPr>
              <a:t>Small,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smart</a:t>
            </a:r>
            <a:br/>
            <a:r>
              <a:rPr sz="9300" b="1" i="0">
                <a:solidFill>
                  <a:srgbClr val="FFFFFF"/>
                </a:solidFill>
                <a:latin typeface="Inter"/>
              </a:rPr>
              <a:t>choices</a:t>
            </a:r>
            <a:br/>
            <a:r>
              <a:rPr sz="9300" b="1" i="0">
                <a:solidFill>
                  <a:srgbClr val="FFFFFF"/>
                </a:solidFill>
                <a:latin typeface="Inter"/>
              </a:rPr>
              <a:t>+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consistency</a:t>
            </a:r>
            <a:br/>
            <a:r>
              <a:rPr sz="9300" b="1" i="0">
                <a:solidFill>
                  <a:srgbClr val="FFFFFF"/>
                </a:solidFill>
                <a:latin typeface="Inter"/>
              </a:rPr>
              <a:t>+ </a:t>
            </a:r>
            <a:r>
              <a:rPr sz="9300" b="1" i="0">
                <a:solidFill>
                  <a:srgbClr val="FFFFFF"/>
                </a:solidFill>
                <a:latin typeface="Inter"/>
              </a:rPr>
              <a:t>time</a:t>
            </a:r>
            <a:br/>
            <a:r>
              <a:rPr sz="9300" b="1" i="0">
                <a:solidFill>
                  <a:srgbClr val="FFFFFF"/>
                </a:solidFill>
                <a:latin typeface="Inter"/>
              </a:rPr>
              <a:t>= </a:t>
            </a:r>
            <a:r>
              <a:rPr sz="9300" b="1" i="0">
                <a:solidFill>
                  <a:srgbClr val="8FA4FF"/>
                </a:solidFill>
                <a:latin typeface="Inter"/>
              </a:rPr>
              <a:t>radical</a:t>
            </a:r>
            <a:br/>
            <a:r>
              <a:rPr sz="9300" b="1" i="0">
                <a:solidFill>
                  <a:srgbClr val="8FA4FF"/>
                </a:solidFill>
                <a:latin typeface="Inter"/>
              </a:rPr>
              <a:t>difference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2398540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Darren Hardy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950990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The Compound Effect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arken footage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bar"/>
          <p:cNvSpPr/>
          <p:nvPr/>
        </p:nvSpPr>
        <p:spPr>
          <a:xfrm>
            <a:off x="914400" y="3643684"/>
            <a:ext cx="495300" cy="47625"/>
          </a:xfrm>
          <a:prstGeom prst="rect">
            <a:avLst/>
          </a:prstGeom>
          <a:solidFill>
            <a:srgbClr val="8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icker"/>
          <p:cNvSpPr txBox="1"/>
          <p:nvPr/>
        </p:nvSpPr>
        <p:spPr>
          <a:xfrm>
            <a:off x="1600200" y="3481759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50" b="1" i="0" spc="450">
                <a:solidFill>
                  <a:srgbClr val="8FA4FF"/>
                </a:solidFill>
                <a:latin typeface="Inter"/>
              </a:rPr>
              <a:t>ON COMEBACKS</a:t>
            </a:r>
          </a:p>
        </p:txBody>
      </p:sp>
      <p:sp>
        <p:nvSpPr>
          <p:cNvPr id="5" name="Quote mark"/>
          <p:cNvSpPr txBox="1"/>
          <p:nvPr/>
        </p:nvSpPr>
        <p:spPr>
          <a:xfrm>
            <a:off x="857250" y="3634159"/>
            <a:ext cx="2857500" cy="2190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750" b="1" i="0">
                <a:solidFill>
                  <a:srgbClr val="8FA4FF"/>
                </a:solidFill>
                <a:latin typeface="Inter"/>
              </a:rPr>
              <a:t>“</a:t>
            </a:r>
          </a:p>
        </p:txBody>
      </p:sp>
      <p:sp>
        <p:nvSpPr>
          <p:cNvPr id="6" name="Quote"/>
          <p:cNvSpPr txBox="1"/>
          <p:nvPr/>
        </p:nvSpPr>
        <p:spPr>
          <a:xfrm>
            <a:off x="914400" y="5181019"/>
            <a:ext cx="8420100" cy="6286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625"/>
              </a:lnSpc>
            </a:pPr>
            <a:r>
              <a:rPr sz="10950" b="1" i="0">
                <a:solidFill>
                  <a:srgbClr val="FFFFFF"/>
                </a:solidFill>
                <a:latin typeface="Inter"/>
              </a:rPr>
              <a:t>Incremental</a:t>
            </a:r>
            <a:br/>
            <a:r>
              <a:rPr sz="10950" b="1" i="0">
                <a:solidFill>
                  <a:srgbClr val="FFFFFF"/>
                </a:solidFill>
                <a:latin typeface="Inter"/>
              </a:rPr>
              <a:t>progress</a:t>
            </a:r>
            <a:br/>
            <a:r>
              <a:rPr sz="10950" b="1" i="0">
                <a:solidFill>
                  <a:srgbClr val="FFFFFF"/>
                </a:solidFill>
                <a:latin typeface="Inter"/>
              </a:rPr>
              <a:t>is </a:t>
            </a:r>
            <a:r>
              <a:rPr sz="10950" b="1" i="0">
                <a:solidFill>
                  <a:srgbClr val="FFFFFF"/>
                </a:solidFill>
                <a:latin typeface="Inter"/>
              </a:rPr>
              <a:t>still</a:t>
            </a:r>
            <a:br/>
            <a:r>
              <a:rPr sz="10950" b="1" i="0">
                <a:solidFill>
                  <a:srgbClr val="8FA4FF"/>
                </a:solidFill>
                <a:latin typeface="Inter"/>
              </a:rPr>
              <a:t>progress.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914400" y="11590792"/>
            <a:ext cx="84201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50" b="1" i="0">
                <a:solidFill>
                  <a:srgbClr val="FFFFFF"/>
                </a:solidFill>
                <a:latin typeface="Inter"/>
              </a:rPr>
              <a:t>— David Goggins</a:t>
            </a:r>
          </a:p>
        </p:txBody>
      </p:sp>
      <p:sp>
        <p:nvSpPr>
          <p:cNvPr id="8" name="Book"/>
          <p:cNvSpPr txBox="1"/>
          <p:nvPr/>
        </p:nvSpPr>
        <p:spPr>
          <a:xfrm>
            <a:off x="914400" y="12143242"/>
            <a:ext cx="84201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50"/>
              </a:lnSpc>
            </a:pPr>
            <a:r>
              <a:rPr sz="2550" b="0" i="1">
                <a:solidFill>
                  <a:srgbClr val="CFCFCF"/>
                </a:solidFill>
                <a:latin typeface="Inter"/>
              </a:rPr>
              <a:t>Never Finished</a:t>
            </a:r>
          </a:p>
        </p:txBody>
      </p:sp>
      <p:pic>
        <p:nvPicPr>
          <p:cNvPr id="9" name="Elevation 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0"/>
            <a:ext cx="10287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